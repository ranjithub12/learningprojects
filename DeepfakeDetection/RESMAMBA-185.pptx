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Calibri (MS)" panose="020F0502020204030204"/>
      <p:regular r:id="rId18"/>
    </p:embeddedFont>
    <p:embeddedFont>
      <p:font typeface="Calibri (MS) Bold" panose="020F0702030404030204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.xml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53"/>
            <a:ext cx="18288000" cy="10286048"/>
            <a:chOff x="0" y="0"/>
            <a:chExt cx="24384000" cy="13714730"/>
          </a:xfrm>
        </p:grpSpPr>
        <p:sp>
          <p:nvSpPr>
            <p:cNvPr id="3" name="Freeform 3" descr="KIIT-Arial-photo-HD"/>
            <p:cNvSpPr/>
            <p:nvPr/>
          </p:nvSpPr>
          <p:spPr>
            <a:xfrm>
              <a:off x="0" y="0"/>
              <a:ext cx="24384000" cy="13714730"/>
            </a:xfrm>
            <a:custGeom>
              <a:avLst/>
              <a:gdLst/>
              <a:ahLst/>
              <a:cxnLst/>
              <a:rect l="l" t="t" r="r" b="b"/>
              <a:pathLst>
                <a:path w="24384000" h="13714730">
                  <a:moveTo>
                    <a:pt x="0" y="0"/>
                  </a:moveTo>
                  <a:lnTo>
                    <a:pt x="24384000" y="0"/>
                  </a:lnTo>
                  <a:lnTo>
                    <a:pt x="24384000" y="13714730"/>
                  </a:lnTo>
                  <a:lnTo>
                    <a:pt x="0" y="137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19999"/>
              </a:blip>
              <a:stretch>
                <a:fillRect l="-1608" r="-160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7326908" y="3397186"/>
            <a:ext cx="2769304" cy="2178973"/>
            <a:chOff x="0" y="0"/>
            <a:chExt cx="3818890" cy="3004820"/>
          </a:xfrm>
        </p:grpSpPr>
        <p:sp>
          <p:nvSpPr>
            <p:cNvPr id="8" name="Freeform 8" descr="C:\Users\KIIT\Pictures\CINE-CONF-LOGO.pngCINE-CONF-LOGO"/>
            <p:cNvSpPr/>
            <p:nvPr/>
          </p:nvSpPr>
          <p:spPr>
            <a:xfrm>
              <a:off x="0" y="0"/>
              <a:ext cx="3818890" cy="3004820"/>
            </a:xfrm>
            <a:custGeom>
              <a:avLst/>
              <a:gdLst/>
              <a:ahLst/>
              <a:cxnLst/>
              <a:rect l="l" t="t" r="r" b="b"/>
              <a:pathLst>
                <a:path w="3818890" h="3004820">
                  <a:moveTo>
                    <a:pt x="0" y="0"/>
                  </a:moveTo>
                  <a:lnTo>
                    <a:pt x="3818890" y="0"/>
                  </a:lnTo>
                  <a:lnTo>
                    <a:pt x="3818890" y="3004820"/>
                  </a:lnTo>
                  <a:lnTo>
                    <a:pt x="0" y="3004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709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536965" y="8464839"/>
            <a:ext cx="12349191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Authors:</a:t>
            </a:r>
            <a:endParaRPr lang="en-US" sz="27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Pratyusa Mukherjee</a:t>
            </a:r>
            <a:r>
              <a:rPr lang="en-US" sz="33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, Ram Prakash Jha, Ranjit Singh &amp; Pritam Mandal</a:t>
            </a:r>
            <a:endParaRPr lang="en-US" sz="33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44986" y="239058"/>
            <a:ext cx="13533149" cy="359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</a:p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IEEE 7ᵗʰ International Conference On Computational Intelligence and Networks, CINE 2026</a:t>
            </a:r>
            <a:endParaRPr lang="en-US" sz="42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March 12ᵗʰ - 14ᵗʰ 2026</a:t>
            </a:r>
            <a:endParaRPr lang="en-US" sz="30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FFFF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</a:t>
            </a:r>
            <a:r>
              <a:rPr lang="en-US" sz="33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KIIT Deemed to be University, Odisha, India</a:t>
            </a:r>
            <a:endParaRPr lang="en-US" sz="33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FFFF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                  </a:t>
            </a:r>
            <a:r>
              <a:rPr lang="en-US" sz="4200">
                <a:solidFill>
                  <a:srgbClr val="FFFF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endParaRPr lang="en-US" sz="4200">
              <a:solidFill>
                <a:srgbClr val="FFFF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51044" y="5755576"/>
            <a:ext cx="769350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PAPER ID:-185</a:t>
            </a:r>
            <a:endParaRPr lang="en-US" sz="27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15437" y="6146102"/>
            <a:ext cx="14312387" cy="133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0"/>
              </a:lnSpc>
            </a:pPr>
            <a:r>
              <a:rPr lang="en-US" sz="413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ResMamba: </a:t>
            </a:r>
            <a:r>
              <a:rPr lang="en-US" sz="413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 Hybrid Residual-State Framework for Deepfake Detection</a:t>
            </a:r>
            <a:endParaRPr lang="en-US" sz="4135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45869" y="7421938"/>
            <a:ext cx="8451523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Presented by-</a:t>
            </a:r>
            <a:endParaRPr lang="en-US" sz="27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PREETI BAJAJ, KIIT</a:t>
            </a:r>
            <a:r>
              <a:rPr lang="en-US" sz="3300" b="1">
                <a:solidFill>
                  <a:srgbClr val="00206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</a:t>
            </a:r>
            <a:r>
              <a:rPr lang="en-US" sz="33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UNIVERSITY</a:t>
            </a:r>
            <a:endParaRPr lang="en-US" sz="33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0" y="953"/>
            <a:ext cx="2799398" cy="2240280"/>
            <a:chOff x="0" y="0"/>
            <a:chExt cx="3732530" cy="29870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32530" cy="2987040"/>
            </a:xfrm>
            <a:custGeom>
              <a:avLst/>
              <a:gdLst/>
              <a:ahLst/>
              <a:cxnLst/>
              <a:rect l="l" t="t" r="r" b="b"/>
              <a:pathLst>
                <a:path w="3732530" h="2987040">
                  <a:moveTo>
                    <a:pt x="0" y="0"/>
                  </a:moveTo>
                  <a:lnTo>
                    <a:pt x="3732530" y="0"/>
                  </a:lnTo>
                  <a:lnTo>
                    <a:pt x="3732530" y="2987040"/>
                  </a:lnTo>
                  <a:lnTo>
                    <a:pt x="0" y="298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007" b="-9007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94" t="-3710" r="-7450" b="-3710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57300" y="9534525"/>
            <a:ext cx="4114800" cy="557138"/>
            <a:chOff x="0" y="0"/>
            <a:chExt cx="5486400" cy="7428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86400" cy="742851"/>
            </a:xfrm>
            <a:custGeom>
              <a:avLst/>
              <a:gdLst/>
              <a:ahLst/>
              <a:cxnLst/>
              <a:rect l="l" t="t" r="r" b="b"/>
              <a:pathLst>
                <a:path w="5486400" h="742851">
                  <a:moveTo>
                    <a:pt x="0" y="0"/>
                  </a:moveTo>
                  <a:lnTo>
                    <a:pt x="5486400" y="0"/>
                  </a:lnTo>
                  <a:lnTo>
                    <a:pt x="54864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94756" b="-9306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5486400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9" name="Freeform 9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44" b="-464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082" b="-11082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5653252" y="0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334755"/>
            <a:ext cx="4343400" cy="1050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Intro</a:t>
            </a: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duction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69708" y="2519335"/>
            <a:ext cx="15218095" cy="623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Deepfake technology enables the creation of highly realistic yet entirely fabricated visual content, posing severe threats to media integrity, public trust, and digital security.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Traditional detection methods rely on handcrafted features and shallow pipelines, often failing to generalize across diverse and evolving forgery techniques. 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 address this, we propose a hybrid architecture combining a ResNet-18 convolutional backbone for robust spatial feature extraction with a Mamba State Space Model (SSM) for capturing long-range sequential dependencies within feature embeddings .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Trained and evaluated on the large-scale GRAVEX-200K dataset and External, our model delivers accurate and scalable deepfake detection across varied manipulation domains.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609600" y="1409700"/>
            <a:ext cx="8867775" cy="987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       Innovation</a:t>
            </a: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in the Study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1082" b="-1108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6" name="Freeform 6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44" b="-4644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2288" y="2381568"/>
            <a:ext cx="15199484" cy="184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This study proposes a hybri</a:t>
            </a: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 ResNet-18 + Mamba SSM architecture that fuses spatial feature extraction with state-space sequence modeling, achieving superior deepfake detection over traditional CNN-based approaches.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295457"/>
            <a:ext cx="15040047" cy="184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As a structured sequence modeling technique, Mamba SSM captures long-range dependencies in feature embeddings while remaining computationally efficient and improving detection accuracy.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2288" y="6142673"/>
            <a:ext cx="14973286" cy="184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 deepfake detection, the proposed model ensures robust generalization across diverse forgery techniques by training and evaluating on the large-scale GRAVEX-200K dataset, making detection more accurate, scalable, and trustworthy.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1082" b="-1108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5" name="Freeform 5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644" b="-4644"/>
              </a:stretch>
            </a:blipFill>
          </p:spPr>
        </p:sp>
      </p:grpSp>
      <p:sp>
        <p:nvSpPr>
          <p:cNvPr id="8" name="TextBox 7"/>
          <p:cNvSpPr txBox="1"/>
          <p:nvPr/>
        </p:nvSpPr>
        <p:spPr>
          <a:xfrm>
            <a:off x="-76200" y="1282065"/>
            <a:ext cx="6300470" cy="12147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</a:t>
            </a: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elated work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9" name="Group 8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10" name="Freeform 9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11" name="TextBox 10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3" name="Freeform 12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4" name="TextBox 13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5" name="Freeform 14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graphicFrame>
        <p:nvGraphicFramePr>
          <p:cNvPr id="19" name="Table 18"/>
          <p:cNvGraphicFramePr/>
          <p:nvPr>
            <p:custDataLst>
              <p:tags r:id="rId5"/>
            </p:custDataLst>
          </p:nvPr>
        </p:nvGraphicFramePr>
        <p:xfrm>
          <a:off x="2209800" y="2171700"/>
          <a:ext cx="14039215" cy="6941185"/>
        </p:xfrm>
        <a:graphic>
          <a:graphicData uri="http://schemas.openxmlformats.org/drawingml/2006/table">
            <a:tbl>
              <a:tblPr/>
              <a:tblGrid>
                <a:gridCol w="3175000"/>
                <a:gridCol w="3664585"/>
                <a:gridCol w="3247390"/>
                <a:gridCol w="3952240"/>
              </a:tblGrid>
              <a:tr h="732155">
                <a:tc>
                  <a:txBody>
                    <a:bodyPr/>
                    <a:p>
                      <a:r>
                        <a:rPr sz="2000"/>
                        <a:t>Author &amp; Year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Model / Approach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Identified Limitations (Research Gap)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Identified Limitations (Research Gap)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04620">
                <a:tc>
                  <a:txBody>
                    <a:bodyPr/>
                    <a:p>
                      <a:r>
                        <a:rPr sz="2000" b="1"/>
                        <a:t>Kapoor et al. (2025) [1]</a:t>
                      </a:r>
                      <a:endParaRPr sz="2000" b="1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ResNet-50 &amp; VGG-16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Strong spatial feature extraction using residual learning and deep CNNs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Limited global dependency modeling, no long-range sequence understanding, high computational cost, weak temporal representation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46200">
                <a:tc>
                  <a:txBody>
                    <a:bodyPr/>
                    <a:p>
                      <a:r>
                        <a:rPr sz="2000" b="1"/>
                        <a:t>Ghita et al. (2024) [2]</a:t>
                      </a:r>
                      <a:endParaRPr sz="2000" b="1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Vision Transformer (ViT)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Captures global relationships using self-attention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Requires massive training datasets, computationally expensive, unstable with limited data, heavy parameter tuning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8570">
                <a:tc>
                  <a:txBody>
                    <a:bodyPr/>
                    <a:p>
                      <a:r>
                        <a:rPr sz="2000" b="1"/>
                        <a:t>Deng et al. (2022) [3]</a:t>
                      </a:r>
                      <a:endParaRPr sz="2000" b="1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EfficientNet-B3 (Face-Edge Focused)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Extremely high AUC on boundary artifact detection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Over-dependence on edge artifacts; performance drops when manipulations are subtle or compression artifacts vary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8215">
                <a:tc>
                  <a:txBody>
                    <a:bodyPr/>
                    <a:p>
                      <a:r>
                        <a:rPr sz="2000" b="1"/>
                        <a:t>Saeed et al. (2025) [4]</a:t>
                      </a:r>
                      <a:endParaRPr sz="2000" b="1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Facial Enhancement Analysis (FabSoften, GFPGAN)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Demonstrated vulnerability of detection models against photorealistic augmentation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Shows existing CNN-based models lack robustness against enhancement-based attacks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1425">
                <a:tc>
                  <a:txBody>
                    <a:bodyPr/>
                    <a:p>
                      <a:r>
                        <a:rPr sz="2000" b="1"/>
                        <a:t>Rogovoi et al. (2024) [5]</a:t>
                      </a:r>
                      <a:endParaRPr sz="2000" b="1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ResNet + Frequency &amp; Color Reduction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Improved robustness under blur and noise conditions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Still primarily spatial-based; lacks effective long-range sequence modeling and adaptive feature integration</a:t>
                      </a:r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3" name="Freeform 3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5294023" y="2274888"/>
            <a:ext cx="8577059" cy="7259637"/>
          </a:xfrm>
          <a:custGeom>
            <a:avLst/>
            <a:gdLst/>
            <a:ahLst/>
            <a:cxnLst/>
            <a:rect l="l" t="t" r="r" b="b"/>
            <a:pathLst>
              <a:path w="8577059" h="7259637">
                <a:moveTo>
                  <a:pt x="0" y="0"/>
                </a:moveTo>
                <a:lnTo>
                  <a:pt x="8577059" y="0"/>
                </a:lnTo>
                <a:lnTo>
                  <a:pt x="8577059" y="7259637"/>
                </a:lnTo>
                <a:lnTo>
                  <a:pt x="0" y="7259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28600" y="1409700"/>
            <a:ext cx="8597265" cy="987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Propose</a:t>
            </a: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 Architecture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94" t="-3710" r="-7450" b="-371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3" name="Freeform 3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739616" y="9465310"/>
            <a:ext cx="4114800" cy="557137"/>
            <a:chOff x="0" y="0"/>
            <a:chExt cx="5486400" cy="742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173458" y="2739681"/>
            <a:ext cx="11941084" cy="6518619"/>
          </a:xfrm>
          <a:custGeom>
            <a:avLst/>
            <a:gdLst/>
            <a:ahLst/>
            <a:cxnLst/>
            <a:rect l="l" t="t" r="r" b="b"/>
            <a:pathLst>
              <a:path w="11941084" h="6518619">
                <a:moveTo>
                  <a:pt x="0" y="0"/>
                </a:moveTo>
                <a:lnTo>
                  <a:pt x="11941084" y="0"/>
                </a:lnTo>
                <a:lnTo>
                  <a:pt x="11941084" y="6518619"/>
                </a:lnTo>
                <a:lnTo>
                  <a:pt x="0" y="6518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39775" y="1263650"/>
            <a:ext cx="7889240" cy="12153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Propose</a:t>
            </a: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 Methodology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77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3" name="Freeform 3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7" name="TextBox 15"/>
          <p:cNvSpPr txBox="1"/>
          <p:nvPr/>
        </p:nvSpPr>
        <p:spPr>
          <a:xfrm>
            <a:off x="838200" y="1263650"/>
            <a:ext cx="3087370" cy="987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Results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aphicFrame>
        <p:nvGraphicFramePr>
          <p:cNvPr id="19" name="Table 18"/>
          <p:cNvGraphicFramePr/>
          <p:nvPr>
            <p:custDataLst>
              <p:tags r:id="rId5"/>
            </p:custDataLst>
          </p:nvPr>
        </p:nvGraphicFramePr>
        <p:xfrm>
          <a:off x="3276600" y="2781300"/>
          <a:ext cx="11718925" cy="2825750"/>
        </p:xfrm>
        <a:graphic>
          <a:graphicData uri="http://schemas.openxmlformats.org/drawingml/2006/table">
            <a:tbl>
              <a:tblPr/>
              <a:tblGrid>
                <a:gridCol w="2818130"/>
                <a:gridCol w="4431665"/>
                <a:gridCol w="4469130"/>
              </a:tblGrid>
              <a:tr h="565150">
                <a:tc>
                  <a:txBody>
                    <a:bodyPr/>
                    <a:p>
                      <a:r>
                        <a:rPr sz="2000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FFFFFF"/>
                          </a:solidFill>
                        </a:rPr>
                        <a:t>External Test Data (140k)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FFFFFF"/>
                          </a:solidFill>
                        </a:rPr>
                        <a:t>200k Test Data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5150"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Accuracy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97.70%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92.01%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Precision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96.41%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88.36%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565150"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Recall / Sensitivity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99.09%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96.77%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F1-Score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97.73%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92.37%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>
            <p:custDataLst>
              <p:tags r:id="rId6"/>
            </p:custDataLst>
          </p:nvPr>
        </p:nvGraphicFramePr>
        <p:xfrm>
          <a:off x="1600200" y="5829300"/>
          <a:ext cx="15134590" cy="3482975"/>
        </p:xfrm>
        <a:graphic>
          <a:graphicData uri="http://schemas.openxmlformats.org/drawingml/2006/table">
            <a:tbl>
              <a:tblPr/>
              <a:tblGrid>
                <a:gridCol w="2652395"/>
                <a:gridCol w="4154805"/>
                <a:gridCol w="4191635"/>
                <a:gridCol w="4135755"/>
              </a:tblGrid>
              <a:tr h="696595">
                <a:tc>
                  <a:txBody>
                    <a:bodyPr/>
                    <a:p>
                      <a:r>
                        <a:rPr sz="200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FFFFFF"/>
                          </a:solidFill>
                        </a:rPr>
                        <a:t>True Label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FFFFFF"/>
                          </a:solidFill>
                        </a:rPr>
                        <a:t>Predicted Fake (Class 0)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FFFFFF"/>
                          </a:solidFill>
                        </a:rPr>
                        <a:t>Predicted Real (Class 1)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96595"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External Test (140k)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Fake (Class 0)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9,631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369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595">
                <a:tc>
                  <a:txBody>
                    <a:bodyPr/>
                    <a:p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Real (Class 1)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91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9,909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  <a:tr h="696595"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200k Test Data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Fake (Class 0)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8,725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1,275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595">
                <a:tc>
                  <a:txBody>
                    <a:bodyPr/>
                    <a:p>
                      <a:endParaRPr sz="2000"/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Real (Class 1)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323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p>
                      <a:r>
                        <a:rPr sz="2000">
                          <a:solidFill>
                            <a:srgbClr val="434343"/>
                          </a:solidFill>
                        </a:rPr>
                        <a:t>9,677</a:t>
                      </a:r>
                      <a:endParaRPr sz="2000">
                        <a:solidFill>
                          <a:srgbClr val="434343"/>
                        </a:solidFill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84E3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3" name="Freeform 3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739616" y="2792620"/>
            <a:ext cx="8350313" cy="6545327"/>
          </a:xfrm>
          <a:custGeom>
            <a:avLst/>
            <a:gdLst/>
            <a:ahLst/>
            <a:cxnLst/>
            <a:rect l="l" t="t" r="r" b="b"/>
            <a:pathLst>
              <a:path w="8350313" h="6545327">
                <a:moveTo>
                  <a:pt x="0" y="0"/>
                </a:moveTo>
                <a:lnTo>
                  <a:pt x="8350313" y="0"/>
                </a:lnTo>
                <a:lnTo>
                  <a:pt x="8350313" y="6545328"/>
                </a:lnTo>
                <a:lnTo>
                  <a:pt x="0" y="6545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597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268387" y="2792620"/>
            <a:ext cx="8353338" cy="6545327"/>
          </a:xfrm>
          <a:custGeom>
            <a:avLst/>
            <a:gdLst/>
            <a:ahLst/>
            <a:cxnLst/>
            <a:rect l="l" t="t" r="r" b="b"/>
            <a:pathLst>
              <a:path w="8353338" h="6545327">
                <a:moveTo>
                  <a:pt x="0" y="0"/>
                </a:moveTo>
                <a:lnTo>
                  <a:pt x="8353338" y="0"/>
                </a:lnTo>
                <a:lnTo>
                  <a:pt x="8353338" y="6545328"/>
                </a:lnTo>
                <a:lnTo>
                  <a:pt x="0" y="6545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552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38200" y="1282065"/>
            <a:ext cx="2943860" cy="987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Results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1257300"/>
            <a:ext cx="4064000" cy="987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Conclusion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4" name="Freeform 4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grpSp>
        <p:nvGrpSpPr>
          <p:cNvPr id="11" name="Group 11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98303" y="2448243"/>
            <a:ext cx="15491394" cy="418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hybrid ResNet-18 and Mamba SSM architecture demonstrates reliable deepfake detection, outperforming conventional CNN and Transformer-based models on GRAVEX-200K and other datasets in terms of accuracy, generalization, and consistency. With a time complexity of approximately O(n·d), the model remains computationally and memory efficient while achieving competitive performance comparable to VGG-style CNNs. Mixed-precision training and regularization further reduce training cost and improve convergence. Future work will extend the ResMamba framework to video-level analysis and evaluate robustness against adversarial enhancements such as GFPGAN.</a:t>
            </a:r>
            <a:endParaRPr lang="en-US" sz="34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1257300"/>
            <a:ext cx="3811905" cy="12001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Reference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7700"/>
              </a:lnSpc>
            </a:pPr>
          </a:p>
        </p:txBody>
      </p:sp>
      <p:grpSp>
        <p:nvGrpSpPr>
          <p:cNvPr id="3" name="Group 3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4" name="Freeform 4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grpSp>
        <p:nvGrpSpPr>
          <p:cNvPr id="11" name="Group 11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57300" y="2335329"/>
            <a:ext cx="15193226" cy="19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[1] K. Kapoor, S. P. Singh, G. </a:t>
            </a: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Aggarwal, and M. Sharma, ”Deepfake Detection Using CNN-Based Architecture,” in Proc. 2025 International Conference on Engineering, Technology &amp; Management (ICETM), May 2025, pp. 1–6, IEEE.</a:t>
            </a:r>
            <a:endParaRPr lang="en-US" sz="35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7300" y="4528968"/>
            <a:ext cx="15193226" cy="253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[2] B. Ghita, I. Kuzminykh, </a:t>
            </a: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A. Usama, T. Bakhshi, and J. Marchang, ”Deepfake Image Detection Using Vision Transformer Models,” in Proc. 2024 IEEE International Black Sea Conference on Communications and Networking (BlackSeaCom), June 2024, pp. 332–335, IEEE.</a:t>
            </a:r>
            <a:endParaRPr lang="en-US" sz="35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57300" y="7116593"/>
            <a:ext cx="15193226" cy="19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[3] Z. Deng, B. Zhang, S. He, an</a:t>
            </a: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 Y. Wang, ”Deepfake Detection Method Based on Face Edge Bands,” in Proc. 2022 9th International Conference on Digital Home (ICDH), Oct. 2022, pp. 251–256, IEEE.</a:t>
            </a:r>
            <a:endParaRPr lang="en-US" sz="35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3" name="Freeform 3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34494" y="2583594"/>
            <a:ext cx="17053506" cy="190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[4] M. S. Saee</a:t>
            </a:r>
            <a:r>
              <a:rPr lang="en-US" sz="35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d, I. U. Haq, and K. Malik, ”Realism to Deception: Investi gating Deepfake Detectors Against Face Enhancement,” arXiv e-prints, arXiv:2509, 2025.</a:t>
            </a:r>
            <a:endParaRPr lang="en-US" sz="35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4900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1066800" y="1282065"/>
            <a:ext cx="3430905" cy="11906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Reference</a:t>
            </a:r>
            <a:endParaRPr lang="en-US" sz="550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7700"/>
              </a:lnSpc>
            </a:pPr>
          </a:p>
        </p:txBody>
      </p:sp>
      <p:sp>
        <p:nvSpPr>
          <p:cNvPr id="15" name="TextBox 15"/>
          <p:cNvSpPr txBox="1"/>
          <p:nvPr/>
        </p:nvSpPr>
        <p:spPr>
          <a:xfrm>
            <a:off x="1234494" y="4148525"/>
            <a:ext cx="17053506" cy="314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5"/>
              </a:lnSpc>
            </a:pPr>
            <a:r>
              <a:rPr lang="en-US" sz="3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[5] V. Rogovoi, V. M. Korzhuk, and O. </a:t>
            </a:r>
            <a:r>
              <a:rPr lang="en-US" sz="3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A. Kokorina, ”Development of a Deepfake Detection Method: Application of Frequency Analysis and Re duction of the Image Color Space to Improve Classification Accuracy,” in Proc. 2024 V Int. Conf. on Neural Networks and Neurotechnologies (NeuroNT), June 2024, pp. 36–39, IEEE.</a:t>
            </a:r>
            <a:endParaRPr lang="en-US" sz="3505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490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479232" cy="1353502"/>
            <a:chOff x="0" y="0"/>
            <a:chExt cx="1972310" cy="1804670"/>
          </a:xfrm>
        </p:grpSpPr>
        <p:sp>
          <p:nvSpPr>
            <p:cNvPr id="3" name="Freeform 3" descr="CINE-CONF-LOGO"/>
            <p:cNvSpPr/>
            <p:nvPr/>
          </p:nvSpPr>
          <p:spPr>
            <a:xfrm>
              <a:off x="0" y="0"/>
              <a:ext cx="1972310" cy="1804670"/>
            </a:xfrm>
            <a:custGeom>
              <a:avLst/>
              <a:gdLst/>
              <a:ahLst/>
              <a:cxnLst/>
              <a:rect l="l" t="t" r="r" b="b"/>
              <a:pathLst>
                <a:path w="1972310" h="1804670">
                  <a:moveTo>
                    <a:pt x="0" y="0"/>
                  </a:moveTo>
                  <a:lnTo>
                    <a:pt x="1972310" y="0"/>
                  </a:lnTo>
                  <a:lnTo>
                    <a:pt x="1972310" y="1804670"/>
                  </a:lnTo>
                  <a:lnTo>
                    <a:pt x="0" y="180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644" b="-46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662862" y="0"/>
            <a:ext cx="1918335" cy="1483042"/>
            <a:chOff x="0" y="0"/>
            <a:chExt cx="2557780" cy="197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7780" cy="1977390"/>
            </a:xfrm>
            <a:custGeom>
              <a:avLst/>
              <a:gdLst/>
              <a:ahLst/>
              <a:cxnLst/>
              <a:rect l="l" t="t" r="r" b="b"/>
              <a:pathLst>
                <a:path w="2557780" h="1977390">
                  <a:moveTo>
                    <a:pt x="0" y="0"/>
                  </a:moveTo>
                  <a:lnTo>
                    <a:pt x="2557780" y="0"/>
                  </a:lnTo>
                  <a:lnTo>
                    <a:pt x="2557780" y="1977390"/>
                  </a:lnTo>
                  <a:lnTo>
                    <a:pt x="0" y="1977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082" b="-110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57300" y="9534525"/>
            <a:ext cx="4114800" cy="557137"/>
            <a:chOff x="0" y="0"/>
            <a:chExt cx="5486400" cy="742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742849"/>
            </a:xfrm>
            <a:custGeom>
              <a:avLst/>
              <a:gdLst/>
              <a:ahLst/>
              <a:cxnLst/>
              <a:rect l="l" t="t" r="r" b="b"/>
              <a:pathLst>
                <a:path w="5486400" h="742849">
                  <a:moveTo>
                    <a:pt x="0" y="0"/>
                  </a:moveTo>
                  <a:lnTo>
                    <a:pt x="5486400" y="0"/>
                  </a:lnTo>
                  <a:lnTo>
                    <a:pt x="54864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757" b="-9306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5486400" cy="8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CINE2026</a:t>
              </a:r>
              <a:endParaRPr lang="en-US" sz="28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5653252" y="71147"/>
            <a:ext cx="2634748" cy="1211209"/>
          </a:xfrm>
          <a:custGeom>
            <a:avLst/>
            <a:gdLst/>
            <a:ahLst/>
            <a:cxnLst/>
            <a:rect l="l" t="t" r="r" b="b"/>
            <a:pathLst>
              <a:path w="2634748" h="1211209">
                <a:moveTo>
                  <a:pt x="0" y="0"/>
                </a:moveTo>
                <a:lnTo>
                  <a:pt x="2634748" y="0"/>
                </a:lnTo>
                <a:lnTo>
                  <a:pt x="2634748" y="1211209"/>
                </a:lnTo>
                <a:lnTo>
                  <a:pt x="0" y="121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4" t="-3710" r="-7450" b="-3710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6057900" y="9534525"/>
            <a:ext cx="6420974" cy="557138"/>
            <a:chOff x="0" y="0"/>
            <a:chExt cx="8561299" cy="7428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61294" cy="742851"/>
            </a:xfrm>
            <a:custGeom>
              <a:avLst/>
              <a:gdLst/>
              <a:ahLst/>
              <a:cxnLst/>
              <a:rect l="l" t="t" r="r" b="b"/>
              <a:pathLst>
                <a:path w="8561294" h="742851">
                  <a:moveTo>
                    <a:pt x="0" y="0"/>
                  </a:moveTo>
                  <a:lnTo>
                    <a:pt x="8561294" y="0"/>
                  </a:lnTo>
                  <a:lnTo>
                    <a:pt x="8561294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11" b="-17371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8561299" cy="8095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262626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185, ResMamba</a:t>
              </a:r>
              <a:endParaRPr lang="en-US" sz="2800">
                <a:solidFill>
                  <a:srgbClr val="26262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57300" y="3978346"/>
            <a:ext cx="16166250" cy="402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10"/>
              </a:lnSpc>
            </a:pPr>
            <a:r>
              <a:rPr lang="en-US" sz="16285" spc="146">
                <a:solidFill>
                  <a:srgbClr val="000000"/>
                </a:solidFill>
                <a:latin typeface="Nickainley" panose="00000500000000000000"/>
                <a:ea typeface="Nickainley" panose="00000500000000000000"/>
                <a:cs typeface="Nickainley" panose="00000500000000000000"/>
                <a:sym typeface="Nickainley" panose="00000500000000000000"/>
              </a:rPr>
              <a:t>Thank You</a:t>
            </a:r>
            <a:endParaRPr lang="en-US" sz="16285" spc="146">
              <a:solidFill>
                <a:srgbClr val="000000"/>
              </a:solidFill>
              <a:latin typeface="Nickainley" panose="00000500000000000000"/>
              <a:ea typeface="Nickainley" panose="00000500000000000000"/>
              <a:cs typeface="Nickainley" panose="00000500000000000000"/>
              <a:sym typeface="Nickainley" panose="00000500000000000000"/>
            </a:endParaRPr>
          </a:p>
          <a:p>
            <a:pPr algn="ctr">
              <a:lnSpc>
                <a:spcPts val="15310"/>
              </a:lnSpc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022*582"/>
  <p:tag name="TABLE_ENDDRAG_RECT" val="218*171*1022*582"/>
</p:tagLst>
</file>

<file path=ppt/tags/tag2.xml><?xml version="1.0" encoding="utf-8"?>
<p:tagLst xmlns:p="http://schemas.openxmlformats.org/presentationml/2006/main">
  <p:tag name="TABLE_ENDDRAG_ORIGIN_RECT" val="922*222"/>
  <p:tag name="TABLE_ENDDRAG_RECT" val="263*196*922*222"/>
</p:tagLst>
</file>

<file path=ppt/tags/tag3.xml><?xml version="1.0" encoding="utf-8"?>
<p:tagLst xmlns:p="http://schemas.openxmlformats.org/presentationml/2006/main">
  <p:tag name="TABLE_ENDDRAG_ORIGIN_RECT" val="1191*274"/>
  <p:tag name="TABLE_ENDDRAG_RECT" val="61*452*1191*2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5484</Words>
  <Application>WPS Presentation</Application>
  <PresentationFormat>On-screen Show (4:3)</PresentationFormat>
  <Paragraphs>226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 (MS)</vt:lpstr>
      <vt:lpstr>Calibri (MS) Bold</vt:lpstr>
      <vt:lpstr>Arial</vt:lpstr>
      <vt:lpstr>Nickainley</vt:lpstr>
      <vt:lpstr>AMGDT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</dc:title>
  <dc:creator/>
  <cp:lastModifiedBy>Ram Prakash</cp:lastModifiedBy>
  <cp:revision>3</cp:revision>
  <dcterms:created xsi:type="dcterms:W3CDTF">2006-08-16T00:00:00Z</dcterms:created>
  <dcterms:modified xsi:type="dcterms:W3CDTF">2026-02-20T19:10:29Z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6E864E287B13422A903DE7C837F97F3A_12</vt:lpwstr>
  </property>
  <property fmtid="{D5CDD505-2E9C-101B-9397-08002B2CF9AE}" pid="3" name="KSOProductBuildVer">
    <vt:lpwstr>2057-12.2.0.23197</vt:lpwstr>
  </property>
</Properties>
</file>